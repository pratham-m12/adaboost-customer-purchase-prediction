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nclusive Sans" panose="020B0604020202020204" charset="0"/>
      <p:regular r:id="rId15"/>
    </p:embeddedFont>
    <p:embeddedFont>
      <p:font typeface="Inclusive Sans Bold" panose="020B0604020202020204" charset="0"/>
      <p:regular r:id="rId16"/>
    </p:embeddedFont>
    <p:embeddedFont>
      <p:font typeface="Montserrat" panose="00000500000000000000" pitchFamily="2" charset="0"/>
      <p:regular r:id="rId17"/>
    </p:embeddedFont>
    <p:embeddedFont>
      <p:font typeface="Montserrat Semi-Bold" panose="020B0604020202020204" charset="0"/>
      <p:regular r:id="rId18"/>
    </p:embeddedFont>
    <p:embeddedFont>
      <p:font typeface="Poppins" panose="00000500000000000000" pitchFamily="2" charset="0"/>
      <p:regular r:id="rId19"/>
    </p:embeddedFont>
    <p:embeddedFont>
      <p:font typeface="Poppi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1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14.sv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svg"/><Relationship Id="rId7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19284" y="6677514"/>
            <a:ext cx="7068646" cy="6570005"/>
          </a:xfrm>
          <a:custGeom>
            <a:avLst/>
            <a:gdLst/>
            <a:ahLst/>
            <a:cxnLst/>
            <a:rect l="l" t="t" r="r" b="b"/>
            <a:pathLst>
              <a:path w="7068646" h="6570005">
                <a:moveTo>
                  <a:pt x="0" y="0"/>
                </a:moveTo>
                <a:lnTo>
                  <a:pt x="7068646" y="0"/>
                </a:lnTo>
                <a:lnTo>
                  <a:pt x="7068646" y="6570004"/>
                </a:lnTo>
                <a:lnTo>
                  <a:pt x="0" y="6570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96374" y="7431887"/>
            <a:ext cx="3183250" cy="3096434"/>
          </a:xfrm>
          <a:custGeom>
            <a:avLst/>
            <a:gdLst/>
            <a:ahLst/>
            <a:cxnLst/>
            <a:rect l="l" t="t" r="r" b="b"/>
            <a:pathLst>
              <a:path w="3183250" h="3096434">
                <a:moveTo>
                  <a:pt x="0" y="0"/>
                </a:moveTo>
                <a:lnTo>
                  <a:pt x="3183250" y="0"/>
                </a:lnTo>
                <a:lnTo>
                  <a:pt x="3183250" y="3096434"/>
                </a:lnTo>
                <a:lnTo>
                  <a:pt x="0" y="3096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848060" y="-3068374"/>
            <a:ext cx="5782024" cy="5374145"/>
          </a:xfrm>
          <a:custGeom>
            <a:avLst/>
            <a:gdLst/>
            <a:ahLst/>
            <a:cxnLst/>
            <a:rect l="l" t="t" r="r" b="b"/>
            <a:pathLst>
              <a:path w="5782024" h="5374145">
                <a:moveTo>
                  <a:pt x="0" y="0"/>
                </a:moveTo>
                <a:lnTo>
                  <a:pt x="5782024" y="0"/>
                </a:lnTo>
                <a:lnTo>
                  <a:pt x="5782024" y="5374145"/>
                </a:lnTo>
                <a:lnTo>
                  <a:pt x="0" y="5374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16821" y="-381301"/>
            <a:ext cx="2444501" cy="1869324"/>
          </a:xfrm>
          <a:custGeom>
            <a:avLst/>
            <a:gdLst/>
            <a:ahLst/>
            <a:cxnLst/>
            <a:rect l="l" t="t" r="r" b="b"/>
            <a:pathLst>
              <a:path w="2444501" h="1869324">
                <a:moveTo>
                  <a:pt x="0" y="0"/>
                </a:moveTo>
                <a:lnTo>
                  <a:pt x="2444501" y="0"/>
                </a:lnTo>
                <a:lnTo>
                  <a:pt x="2444501" y="1869324"/>
                </a:lnTo>
                <a:lnTo>
                  <a:pt x="0" y="1869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566879" y="40615"/>
            <a:ext cx="2196468" cy="2270785"/>
          </a:xfrm>
          <a:custGeom>
            <a:avLst/>
            <a:gdLst/>
            <a:ahLst/>
            <a:cxnLst/>
            <a:rect l="l" t="t" r="r" b="b"/>
            <a:pathLst>
              <a:path w="2196468" h="2270785">
                <a:moveTo>
                  <a:pt x="0" y="0"/>
                </a:moveTo>
                <a:lnTo>
                  <a:pt x="2196468" y="0"/>
                </a:lnTo>
                <a:lnTo>
                  <a:pt x="2196468" y="2270785"/>
                </a:lnTo>
                <a:lnTo>
                  <a:pt x="0" y="22707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75600" y="7431619"/>
            <a:ext cx="2767401" cy="2767401"/>
          </a:xfrm>
          <a:custGeom>
            <a:avLst/>
            <a:gdLst/>
            <a:ahLst/>
            <a:cxnLst/>
            <a:rect l="l" t="t" r="r" b="b"/>
            <a:pathLst>
              <a:path w="2767401" h="2767401">
                <a:moveTo>
                  <a:pt x="0" y="0"/>
                </a:moveTo>
                <a:lnTo>
                  <a:pt x="2767400" y="0"/>
                </a:lnTo>
                <a:lnTo>
                  <a:pt x="2767400" y="2767401"/>
                </a:lnTo>
                <a:lnTo>
                  <a:pt x="0" y="276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19325" y="262031"/>
            <a:ext cx="3249350" cy="1533339"/>
          </a:xfrm>
          <a:custGeom>
            <a:avLst/>
            <a:gdLst/>
            <a:ahLst/>
            <a:cxnLst/>
            <a:rect l="l" t="t" r="r" b="b"/>
            <a:pathLst>
              <a:path w="3249350" h="1533339">
                <a:moveTo>
                  <a:pt x="0" y="0"/>
                </a:moveTo>
                <a:lnTo>
                  <a:pt x="3249350" y="0"/>
                </a:lnTo>
                <a:lnTo>
                  <a:pt x="3249350" y="1533338"/>
                </a:lnTo>
                <a:lnTo>
                  <a:pt x="0" y="15333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33780" y="3759200"/>
            <a:ext cx="12150869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DOES ADABOOST IMPROVE CUSTOMER PURCHASE PREDICTION?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3780" y="5556600"/>
            <a:ext cx="1307559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Boosting weak decision trees on the Social Network Ads dataset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9452" y="6720029"/>
            <a:ext cx="602909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Group-15 · MDM-ML ISE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93132" y="7902508"/>
            <a:ext cx="4701735" cy="176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Group Members: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Pratham Mendon (124AX035)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Manish Singh (124AX039)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Santhiya Dharmaraj (124AX040)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Alan Nadar (124AX041)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3780" y="2733675"/>
            <a:ext cx="666444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>
                <a:solidFill>
                  <a:srgbClr val="F9731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ENSEMBLE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45771" y="3337071"/>
            <a:ext cx="3407183" cy="2930177"/>
          </a:xfrm>
          <a:custGeom>
            <a:avLst/>
            <a:gdLst/>
            <a:ahLst/>
            <a:cxnLst/>
            <a:rect l="l" t="t" r="r" b="b"/>
            <a:pathLst>
              <a:path w="3407183" h="2930177">
                <a:moveTo>
                  <a:pt x="0" y="0"/>
                </a:moveTo>
                <a:lnTo>
                  <a:pt x="3407182" y="0"/>
                </a:lnTo>
                <a:lnTo>
                  <a:pt x="3407182" y="2930177"/>
                </a:lnTo>
                <a:lnTo>
                  <a:pt x="0" y="2930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14665" y="3292792"/>
            <a:ext cx="3458670" cy="2974457"/>
          </a:xfrm>
          <a:custGeom>
            <a:avLst/>
            <a:gdLst/>
            <a:ahLst/>
            <a:cxnLst/>
            <a:rect l="l" t="t" r="r" b="b"/>
            <a:pathLst>
              <a:path w="3458670" h="2974457">
                <a:moveTo>
                  <a:pt x="0" y="0"/>
                </a:moveTo>
                <a:lnTo>
                  <a:pt x="3458670" y="0"/>
                </a:lnTo>
                <a:lnTo>
                  <a:pt x="3458670" y="2974456"/>
                </a:lnTo>
                <a:lnTo>
                  <a:pt x="0" y="297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272543" y="3337071"/>
            <a:ext cx="3407183" cy="2930177"/>
          </a:xfrm>
          <a:custGeom>
            <a:avLst/>
            <a:gdLst/>
            <a:ahLst/>
            <a:cxnLst/>
            <a:rect l="l" t="t" r="r" b="b"/>
            <a:pathLst>
              <a:path w="3407183" h="2930177">
                <a:moveTo>
                  <a:pt x="0" y="0"/>
                </a:moveTo>
                <a:lnTo>
                  <a:pt x="3407183" y="0"/>
                </a:lnTo>
                <a:lnTo>
                  <a:pt x="3407183" y="2930177"/>
                </a:lnTo>
                <a:lnTo>
                  <a:pt x="0" y="2930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01885" y="6758821"/>
            <a:ext cx="13084230" cy="1570108"/>
          </a:xfrm>
          <a:custGeom>
            <a:avLst/>
            <a:gdLst/>
            <a:ahLst/>
            <a:cxnLst/>
            <a:rect l="l" t="t" r="r" b="b"/>
            <a:pathLst>
              <a:path w="13084230" h="1570108">
                <a:moveTo>
                  <a:pt x="0" y="0"/>
                </a:moveTo>
                <a:lnTo>
                  <a:pt x="13084230" y="0"/>
                </a:lnTo>
                <a:lnTo>
                  <a:pt x="13084230" y="1570107"/>
                </a:lnTo>
                <a:lnTo>
                  <a:pt x="0" y="15701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11866" y="857250"/>
            <a:ext cx="9664269" cy="1069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35032" y="3851192"/>
            <a:ext cx="235366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1E2A44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INPUT FEATURES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67167" y="3851192"/>
            <a:ext cx="235366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1E2A44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MODEL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99301" y="3860717"/>
            <a:ext cx="235366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1E2A44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PREDICTION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47190" y="4413626"/>
            <a:ext cx="2341509" cy="67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ESTIMATED SALARY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1955" y="4422776"/>
            <a:ext cx="1664090" cy="72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TREE-BASED CLASSIFIER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99346" y="4423837"/>
            <a:ext cx="2141464" cy="72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PURCHASED = 0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PURCHASED =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7109" y="4384041"/>
            <a:ext cx="5334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97316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60652" y="4384041"/>
            <a:ext cx="5334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F97316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27454" y="6962850"/>
            <a:ext cx="10033093" cy="107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CENTRAL QUESTION: DOES ADABOOST OVER WEAK TREES BEAT INDIVIDUAL TREES?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73846" y="8680564"/>
            <a:ext cx="12940308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BINARY CLASSIFICATION • LEARN PATTERNS FROM HISTORICAL EXAMPLES • EVALUATE ON UNSEEN TEST DATA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93309" y="2151697"/>
            <a:ext cx="6301383" cy="54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CAN WE PREDICT WHO WILL BUY?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362322" y="3056012"/>
            <a:ext cx="2737243" cy="2354029"/>
          </a:xfrm>
          <a:custGeom>
            <a:avLst/>
            <a:gdLst/>
            <a:ahLst/>
            <a:cxnLst/>
            <a:rect l="l" t="t" r="r" b="b"/>
            <a:pathLst>
              <a:path w="2737243" h="2354029">
                <a:moveTo>
                  <a:pt x="0" y="0"/>
                </a:moveTo>
                <a:lnTo>
                  <a:pt x="2737243" y="0"/>
                </a:lnTo>
                <a:lnTo>
                  <a:pt x="2737243" y="2354029"/>
                </a:lnTo>
                <a:lnTo>
                  <a:pt x="0" y="2354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81252" y="3056012"/>
            <a:ext cx="2737243" cy="2354029"/>
          </a:xfrm>
          <a:custGeom>
            <a:avLst/>
            <a:gdLst/>
            <a:ahLst/>
            <a:cxnLst/>
            <a:rect l="l" t="t" r="r" b="b"/>
            <a:pathLst>
              <a:path w="2737243" h="2354029">
                <a:moveTo>
                  <a:pt x="0" y="0"/>
                </a:moveTo>
                <a:lnTo>
                  <a:pt x="2737243" y="0"/>
                </a:lnTo>
                <a:lnTo>
                  <a:pt x="2737243" y="2354029"/>
                </a:lnTo>
                <a:lnTo>
                  <a:pt x="0" y="2354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188435" y="3056012"/>
            <a:ext cx="2737243" cy="2354029"/>
          </a:xfrm>
          <a:custGeom>
            <a:avLst/>
            <a:gdLst/>
            <a:ahLst/>
            <a:cxnLst/>
            <a:rect l="l" t="t" r="r" b="b"/>
            <a:pathLst>
              <a:path w="2737243" h="2354029">
                <a:moveTo>
                  <a:pt x="0" y="0"/>
                </a:moveTo>
                <a:lnTo>
                  <a:pt x="2737243" y="0"/>
                </a:lnTo>
                <a:lnTo>
                  <a:pt x="2737243" y="2354029"/>
                </a:lnTo>
                <a:lnTo>
                  <a:pt x="0" y="2354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374070" y="5886291"/>
            <a:ext cx="2725495" cy="2343926"/>
          </a:xfrm>
          <a:custGeom>
            <a:avLst/>
            <a:gdLst/>
            <a:ahLst/>
            <a:cxnLst/>
            <a:rect l="l" t="t" r="r" b="b"/>
            <a:pathLst>
              <a:path w="2725495" h="2343926">
                <a:moveTo>
                  <a:pt x="0" y="0"/>
                </a:moveTo>
                <a:lnTo>
                  <a:pt x="2725495" y="0"/>
                </a:lnTo>
                <a:lnTo>
                  <a:pt x="2725495" y="2343926"/>
                </a:lnTo>
                <a:lnTo>
                  <a:pt x="0" y="2343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781252" y="5936214"/>
            <a:ext cx="2667446" cy="2294003"/>
          </a:xfrm>
          <a:custGeom>
            <a:avLst/>
            <a:gdLst/>
            <a:ahLst/>
            <a:cxnLst/>
            <a:rect l="l" t="t" r="r" b="b"/>
            <a:pathLst>
              <a:path w="2667446" h="2294003">
                <a:moveTo>
                  <a:pt x="0" y="0"/>
                </a:moveTo>
                <a:lnTo>
                  <a:pt x="2667446" y="0"/>
                </a:lnTo>
                <a:lnTo>
                  <a:pt x="2667446" y="2294003"/>
                </a:lnTo>
                <a:lnTo>
                  <a:pt x="0" y="2294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200183" y="5936214"/>
            <a:ext cx="2725495" cy="2343926"/>
          </a:xfrm>
          <a:custGeom>
            <a:avLst/>
            <a:gdLst/>
            <a:ahLst/>
            <a:cxnLst/>
            <a:rect l="l" t="t" r="r" b="b"/>
            <a:pathLst>
              <a:path w="2725495" h="2343926">
                <a:moveTo>
                  <a:pt x="0" y="0"/>
                </a:moveTo>
                <a:lnTo>
                  <a:pt x="2725495" y="0"/>
                </a:lnTo>
                <a:lnTo>
                  <a:pt x="2725495" y="2343926"/>
                </a:lnTo>
                <a:lnTo>
                  <a:pt x="0" y="2343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486400" y="8594465"/>
            <a:ext cx="7315200" cy="1133856"/>
          </a:xfrm>
          <a:custGeom>
            <a:avLst/>
            <a:gdLst/>
            <a:ahLst/>
            <a:cxnLst/>
            <a:rect l="l" t="t" r="r" b="b"/>
            <a:pathLst>
              <a:path w="7315200" h="1133856">
                <a:moveTo>
                  <a:pt x="0" y="0"/>
                </a:moveTo>
                <a:lnTo>
                  <a:pt x="7315200" y="0"/>
                </a:lnTo>
                <a:lnTo>
                  <a:pt x="7315200" y="1133856"/>
                </a:lnTo>
                <a:lnTo>
                  <a:pt x="0" y="1133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311866" y="991151"/>
            <a:ext cx="9664269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REAL-WORLD APPLICATION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87456" y="2128109"/>
            <a:ext cx="9248656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FROM ADVERTISING IMPRESSIONS TO SMARTER TARGETING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87365" y="3885682"/>
            <a:ext cx="1383559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Reach likely buyers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87344" y="6821371"/>
            <a:ext cx="118360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Adapt ad content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45402" y="3432853"/>
            <a:ext cx="2267485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TARGETED ADS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16131" y="3432853"/>
            <a:ext cx="2267485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SEGMENTATION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54280" y="3432853"/>
            <a:ext cx="1605553" cy="72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CAMPAIGN TUNING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87456" y="6345789"/>
            <a:ext cx="2383376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PERSONALISATION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16131" y="6345789"/>
            <a:ext cx="2267485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COST EFFICIENCY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9188" y="6345789"/>
            <a:ext cx="2267485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094" y="3885682"/>
            <a:ext cx="1383559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Identify user groups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86511" y="4194927"/>
            <a:ext cx="174109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Allocate budget better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21209" y="6821371"/>
            <a:ext cx="165733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Reduce wasted spend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862705" y="6821371"/>
            <a:ext cx="1388703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Support sales goals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75853" y="8767694"/>
            <a:ext cx="6936293" cy="72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PREDICTIONS ESTIMATE BEHAVIOUR; THEY DO NOT GUARANTEE A PURCHASE.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193087" y="5960827"/>
            <a:ext cx="2172601" cy="1868437"/>
          </a:xfrm>
          <a:custGeom>
            <a:avLst/>
            <a:gdLst/>
            <a:ahLst/>
            <a:cxnLst/>
            <a:rect l="l" t="t" r="r" b="b"/>
            <a:pathLst>
              <a:path w="2172601" h="1868437">
                <a:moveTo>
                  <a:pt x="0" y="0"/>
                </a:moveTo>
                <a:lnTo>
                  <a:pt x="2172601" y="0"/>
                </a:lnTo>
                <a:lnTo>
                  <a:pt x="2172601" y="1868437"/>
                </a:lnTo>
                <a:lnTo>
                  <a:pt x="0" y="1868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23278" y="5960827"/>
            <a:ext cx="2153200" cy="1851752"/>
          </a:xfrm>
          <a:custGeom>
            <a:avLst/>
            <a:gdLst/>
            <a:ahLst/>
            <a:cxnLst/>
            <a:rect l="l" t="t" r="r" b="b"/>
            <a:pathLst>
              <a:path w="2153200" h="1851752">
                <a:moveTo>
                  <a:pt x="0" y="0"/>
                </a:moveTo>
                <a:lnTo>
                  <a:pt x="2153199" y="0"/>
                </a:lnTo>
                <a:lnTo>
                  <a:pt x="2153199" y="1851751"/>
                </a:lnTo>
                <a:lnTo>
                  <a:pt x="0" y="18517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006151" y="3395122"/>
            <a:ext cx="4764467" cy="1310228"/>
          </a:xfrm>
          <a:custGeom>
            <a:avLst/>
            <a:gdLst/>
            <a:ahLst/>
            <a:cxnLst/>
            <a:rect l="l" t="t" r="r" b="b"/>
            <a:pathLst>
              <a:path w="4764467" h="1310228">
                <a:moveTo>
                  <a:pt x="0" y="0"/>
                </a:moveTo>
                <a:lnTo>
                  <a:pt x="4764467" y="0"/>
                </a:lnTo>
                <a:lnTo>
                  <a:pt x="4764467" y="1310228"/>
                </a:lnTo>
                <a:lnTo>
                  <a:pt x="0" y="13102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803462" y="5373408"/>
            <a:ext cx="6670301" cy="616859"/>
          </a:xfrm>
          <a:custGeom>
            <a:avLst/>
            <a:gdLst/>
            <a:ahLst/>
            <a:cxnLst/>
            <a:rect l="l" t="t" r="r" b="b"/>
            <a:pathLst>
              <a:path w="6670301" h="616859">
                <a:moveTo>
                  <a:pt x="0" y="0"/>
                </a:moveTo>
                <a:lnTo>
                  <a:pt x="6670300" y="0"/>
                </a:lnTo>
                <a:lnTo>
                  <a:pt x="6670300" y="616859"/>
                </a:lnTo>
                <a:lnTo>
                  <a:pt x="0" y="6168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803462" y="5981059"/>
            <a:ext cx="6670301" cy="616859"/>
          </a:xfrm>
          <a:custGeom>
            <a:avLst/>
            <a:gdLst/>
            <a:ahLst/>
            <a:cxnLst/>
            <a:rect l="l" t="t" r="r" b="b"/>
            <a:pathLst>
              <a:path w="6670301" h="616859">
                <a:moveTo>
                  <a:pt x="0" y="0"/>
                </a:moveTo>
                <a:lnTo>
                  <a:pt x="6670300" y="0"/>
                </a:lnTo>
                <a:lnTo>
                  <a:pt x="6670300" y="616859"/>
                </a:lnTo>
                <a:lnTo>
                  <a:pt x="0" y="6168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803462" y="6608237"/>
            <a:ext cx="6670301" cy="616859"/>
          </a:xfrm>
          <a:custGeom>
            <a:avLst/>
            <a:gdLst/>
            <a:ahLst/>
            <a:cxnLst/>
            <a:rect l="l" t="t" r="r" b="b"/>
            <a:pathLst>
              <a:path w="6670301" h="616859">
                <a:moveTo>
                  <a:pt x="0" y="0"/>
                </a:moveTo>
                <a:lnTo>
                  <a:pt x="6670300" y="0"/>
                </a:lnTo>
                <a:lnTo>
                  <a:pt x="6670300" y="616859"/>
                </a:lnTo>
                <a:lnTo>
                  <a:pt x="0" y="6168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803462" y="7212405"/>
            <a:ext cx="6670301" cy="616859"/>
          </a:xfrm>
          <a:custGeom>
            <a:avLst/>
            <a:gdLst/>
            <a:ahLst/>
            <a:cxnLst/>
            <a:rect l="l" t="t" r="r" b="b"/>
            <a:pathLst>
              <a:path w="6670301" h="616859">
                <a:moveTo>
                  <a:pt x="0" y="0"/>
                </a:moveTo>
                <a:lnTo>
                  <a:pt x="6670300" y="0"/>
                </a:lnTo>
                <a:lnTo>
                  <a:pt x="6670300" y="616859"/>
                </a:lnTo>
                <a:lnTo>
                  <a:pt x="0" y="6168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194285" y="3395122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837212" y="6715238"/>
            <a:ext cx="112533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80:20 stratified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34999" y="3779591"/>
            <a:ext cx="3977925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Social Network Ads • supervised binary classification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11866" y="1432265"/>
            <a:ext cx="9664269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&amp; PREPROCESSING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83898" y="3449391"/>
            <a:ext cx="151056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28584" y="5422717"/>
            <a:ext cx="55884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28584" y="6027770"/>
            <a:ext cx="242771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ESTIMATEDSALARY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8584" y="6636018"/>
            <a:ext cx="160212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PURCHASED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8584" y="7263196"/>
            <a:ext cx="95166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28584" y="4981575"/>
            <a:ext cx="8382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COLUMN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0680" y="4981575"/>
            <a:ext cx="46791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00680" y="5422717"/>
            <a:ext cx="193987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12D47"/>
                </a:solidFill>
                <a:latin typeface="Poppins Bold"/>
                <a:ea typeface="Poppins Bold"/>
                <a:cs typeface="Poppins Bold"/>
                <a:sym typeface="Poppins Bold"/>
              </a:rPr>
              <a:t>INPUT FEATURE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00680" y="6027770"/>
            <a:ext cx="193987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12D47"/>
                </a:solidFill>
                <a:latin typeface="Poppins Bold"/>
                <a:ea typeface="Poppins Bold"/>
                <a:cs typeface="Poppins Bold"/>
                <a:sym typeface="Poppins Bold"/>
              </a:rPr>
              <a:t>INPUT FEATURE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00680" y="7263196"/>
            <a:ext cx="253994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212D47"/>
                </a:solidFill>
                <a:latin typeface="Poppins Bold"/>
                <a:ea typeface="Poppins Bold"/>
                <a:cs typeface="Poppins Bold"/>
                <a:sym typeface="Poppins Bold"/>
              </a:rPr>
              <a:t>EXCLUDE IDENTIFIER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00680" y="6636018"/>
            <a:ext cx="193987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7316"/>
                </a:solidFill>
                <a:latin typeface="Poppins Bold"/>
                <a:ea typeface="Poppins Bold"/>
                <a:cs typeface="Poppins Bold"/>
                <a:sym typeface="Poppins Bold"/>
              </a:rPr>
              <a:t>TARGET: 0 /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07219" y="6247662"/>
            <a:ext cx="1732299" cy="341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TRAIN / TEST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82496" y="6266712"/>
            <a:ext cx="1663541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REPRODUCIBILITY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81352" y="6910183"/>
            <a:ext cx="186582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RANDOM_STATE = 42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83133" y="3751016"/>
            <a:ext cx="142105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83133" y="4159957"/>
            <a:ext cx="3986689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 → INSPECT → CLEAN → SPLIT → TRAIN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45771" y="3679472"/>
            <a:ext cx="3407183" cy="2930177"/>
          </a:xfrm>
          <a:custGeom>
            <a:avLst/>
            <a:gdLst/>
            <a:ahLst/>
            <a:cxnLst/>
            <a:rect l="l" t="t" r="r" b="b"/>
            <a:pathLst>
              <a:path w="3407183" h="2930177">
                <a:moveTo>
                  <a:pt x="0" y="0"/>
                </a:moveTo>
                <a:lnTo>
                  <a:pt x="3407182" y="0"/>
                </a:lnTo>
                <a:lnTo>
                  <a:pt x="3407182" y="2930177"/>
                </a:lnTo>
                <a:lnTo>
                  <a:pt x="0" y="2930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40409" y="3679472"/>
            <a:ext cx="3407183" cy="2930177"/>
          </a:xfrm>
          <a:custGeom>
            <a:avLst/>
            <a:gdLst/>
            <a:ahLst/>
            <a:cxnLst/>
            <a:rect l="l" t="t" r="r" b="b"/>
            <a:pathLst>
              <a:path w="3407183" h="2930177">
                <a:moveTo>
                  <a:pt x="0" y="0"/>
                </a:moveTo>
                <a:lnTo>
                  <a:pt x="3407182" y="0"/>
                </a:lnTo>
                <a:lnTo>
                  <a:pt x="3407182" y="2930177"/>
                </a:lnTo>
                <a:lnTo>
                  <a:pt x="0" y="2930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33491" y="3678411"/>
            <a:ext cx="3407183" cy="2930177"/>
          </a:xfrm>
          <a:custGeom>
            <a:avLst/>
            <a:gdLst/>
            <a:ahLst/>
            <a:cxnLst/>
            <a:rect l="l" t="t" r="r" b="b"/>
            <a:pathLst>
              <a:path w="3407183" h="2930177">
                <a:moveTo>
                  <a:pt x="0" y="0"/>
                </a:moveTo>
                <a:lnTo>
                  <a:pt x="3407183" y="0"/>
                </a:lnTo>
                <a:lnTo>
                  <a:pt x="3407183" y="2930178"/>
                </a:lnTo>
                <a:lnTo>
                  <a:pt x="0" y="2930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835440" y="7247824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500808" y="7247824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878793" y="5623340"/>
            <a:ext cx="741139" cy="772019"/>
          </a:xfrm>
          <a:custGeom>
            <a:avLst/>
            <a:gdLst/>
            <a:ahLst/>
            <a:cxnLst/>
            <a:rect l="l" t="t" r="r" b="b"/>
            <a:pathLst>
              <a:path w="741139" h="772019">
                <a:moveTo>
                  <a:pt x="0" y="0"/>
                </a:moveTo>
                <a:lnTo>
                  <a:pt x="741138" y="0"/>
                </a:lnTo>
                <a:lnTo>
                  <a:pt x="741138" y="772020"/>
                </a:lnTo>
                <a:lnTo>
                  <a:pt x="0" y="772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845492" y="1711874"/>
            <a:ext cx="6597015" cy="109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MODELS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45492" y="2760677"/>
            <a:ext cx="6597015" cy="54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TREE-BASED LEARNERS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77800" y="4117257"/>
            <a:ext cx="214312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STUMP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72438" y="4117257"/>
            <a:ext cx="214312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SHALLOW TREE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83659" y="4117257"/>
            <a:ext cx="250684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FULL DECISION TREE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63392" y="4750860"/>
            <a:ext cx="2982099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DEPTH = 1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CLASSIC WEAK LEARNER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88116" y="4749800"/>
            <a:ext cx="2711768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DEPTH = 3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MORE DECISION RULES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85916" y="4574648"/>
            <a:ext cx="2781093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UNRESTRICTED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MAY OVERFIT TRAINING DATA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56410" y="7466468"/>
            <a:ext cx="2057225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SPLIT CRITERIA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56410" y="7902938"/>
            <a:ext cx="4360723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GINI IMPURITY • ENTROPY • INFORMATION GAIN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51383" y="7466468"/>
            <a:ext cx="353453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51599" y="7883888"/>
            <a:ext cx="413749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 FOREST = BAGGING ENSEMBLE, NOT ONE TREE</a:t>
            </a:r>
          </a:p>
        </p:txBody>
      </p:sp>
      <p:sp>
        <p:nvSpPr>
          <p:cNvPr id="26" name="Freeform 26"/>
          <p:cNvSpPr/>
          <p:nvPr/>
        </p:nvSpPr>
        <p:spPr>
          <a:xfrm>
            <a:off x="8773431" y="5623340"/>
            <a:ext cx="741139" cy="772019"/>
          </a:xfrm>
          <a:custGeom>
            <a:avLst/>
            <a:gdLst/>
            <a:ahLst/>
            <a:cxnLst/>
            <a:rect l="l" t="t" r="r" b="b"/>
            <a:pathLst>
              <a:path w="741139" h="772019">
                <a:moveTo>
                  <a:pt x="0" y="0"/>
                </a:moveTo>
                <a:lnTo>
                  <a:pt x="741138" y="0"/>
                </a:lnTo>
                <a:lnTo>
                  <a:pt x="741138" y="772020"/>
                </a:lnTo>
                <a:lnTo>
                  <a:pt x="0" y="772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705894" y="5708436"/>
            <a:ext cx="741139" cy="772019"/>
          </a:xfrm>
          <a:custGeom>
            <a:avLst/>
            <a:gdLst/>
            <a:ahLst/>
            <a:cxnLst/>
            <a:rect l="l" t="t" r="r" b="b"/>
            <a:pathLst>
              <a:path w="741139" h="772019">
                <a:moveTo>
                  <a:pt x="0" y="0"/>
                </a:moveTo>
                <a:lnTo>
                  <a:pt x="741138" y="0"/>
                </a:lnTo>
                <a:lnTo>
                  <a:pt x="741138" y="772019"/>
                </a:lnTo>
                <a:lnTo>
                  <a:pt x="0" y="7720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2177167" y="3877238"/>
            <a:ext cx="13284528" cy="1964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78836" y="1432265"/>
            <a:ext cx="8330328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ENSEMBLE TECHNIQUE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857969" y="3501788"/>
            <a:ext cx="791367" cy="791367"/>
            <a:chOff x="0" y="0"/>
            <a:chExt cx="558800" cy="558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02360" y="4486910"/>
            <a:ext cx="170258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Equal sample weights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7969" y="3465037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19944" y="3501788"/>
            <a:ext cx="791367" cy="791367"/>
            <a:chOff x="0" y="0"/>
            <a:chExt cx="558800" cy="558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199850" y="4486910"/>
            <a:ext cx="143155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Train weak learner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19944" y="3465037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962179" y="3501788"/>
            <a:ext cx="791367" cy="791367"/>
            <a:chOff x="0" y="0"/>
            <a:chExt cx="558800" cy="55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726781" y="4486910"/>
            <a:ext cx="1262163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Find mistakes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962179" y="3465037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716897" y="3501788"/>
            <a:ext cx="791367" cy="791367"/>
            <a:chOff x="0" y="0"/>
            <a:chExt cx="558800" cy="558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084319" y="4486910"/>
            <a:ext cx="205652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Increase relative weights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16897" y="3465037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62290" y="2267288"/>
            <a:ext cx="676341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ADABOOST: LEARN FROM MISTAKES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36218" y="4486910"/>
            <a:ext cx="149752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Train next learner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29116" y="4486910"/>
            <a:ext cx="205652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Inclusive Sans Bold"/>
                <a:ea typeface="Inclusive Sans Bold"/>
                <a:cs typeface="Inclusive Sans Bold"/>
                <a:sym typeface="Inclusive Sans Bold"/>
              </a:rPr>
              <a:t>Weighted final vote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2589296" y="3501788"/>
            <a:ext cx="791367" cy="791367"/>
            <a:chOff x="0" y="0"/>
            <a:chExt cx="558800" cy="558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589296" y="3465037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5461695" y="3501788"/>
            <a:ext cx="791367" cy="791367"/>
            <a:chOff x="0" y="0"/>
            <a:chExt cx="558800" cy="558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461695" y="3465037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id="41" name="Freeform 41"/>
          <p:cNvSpPr/>
          <p:nvPr/>
        </p:nvSpPr>
        <p:spPr>
          <a:xfrm>
            <a:off x="2439752" y="5934075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0592341" y="5934075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2649337" y="6178583"/>
            <a:ext cx="148652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BAGGING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76411" y="6178583"/>
            <a:ext cx="148652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BOOSTING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649337" y="6589189"/>
            <a:ext cx="362069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INDEPENDENT TREES • RANDOM FOREST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76411" y="6577045"/>
            <a:ext cx="3498597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SEQUENTIAL LEARNERS • ADABOOST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19807" y="6178583"/>
            <a:ext cx="212902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97316"/>
                </a:solidFill>
                <a:latin typeface="Poppins Bold"/>
                <a:ea typeface="Poppins Bold"/>
                <a:cs typeface="Poppins Bold"/>
                <a:sym typeface="Poppins Bold"/>
              </a:rPr>
              <a:t>OUR ASSIGNED METHOD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670268" y="8292053"/>
            <a:ext cx="1132403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LATER LEARNERS FOCUS MORE ON EXAMPLES EARLIER LEARNERS CLASSIFIED INCORRECTLY.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835440" y="3510482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500808" y="3510482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8"/>
                </a:lnTo>
                <a:lnTo>
                  <a:pt x="0" y="1634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45492" y="1414985"/>
            <a:ext cx="6597015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MATHEMATICS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1243" y="2240483"/>
            <a:ext cx="6965514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HOW DOES ADABOOST COMBINE LEARNERS?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56410" y="3729126"/>
            <a:ext cx="2354906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WEIGHTED ERROR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56410" y="4165596"/>
            <a:ext cx="43607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WEIGHTED SHARE OF MISTAKES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ERRₜ = Σᵢ Wᵢ · 1(Yᵢ ≠ Hₜ(Xᵢ))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51599" y="3729126"/>
            <a:ext cx="279211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LEARNER WEIGHT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51599" y="4146546"/>
            <a:ext cx="413749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BETTER LEARNERS GET MORE VOTE WEIGHT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Αₜ = ½ LN((1 − ERRₜ) / ERRₜ)</a:t>
            </a:r>
          </a:p>
        </p:txBody>
      </p:sp>
      <p:sp>
        <p:nvSpPr>
          <p:cNvPr id="16" name="Freeform 16"/>
          <p:cNvSpPr/>
          <p:nvPr/>
        </p:nvSpPr>
        <p:spPr>
          <a:xfrm>
            <a:off x="3835440" y="5527978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9"/>
                </a:lnTo>
                <a:lnTo>
                  <a:pt x="0" y="1634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500808" y="5527978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9"/>
                </a:lnTo>
                <a:lnTo>
                  <a:pt x="0" y="1634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956410" y="5746622"/>
            <a:ext cx="24960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WEIGHT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56410" y="6164042"/>
            <a:ext cx="43607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NORMALISE WEIGHTS AFTER UPDATING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Wᵢ ← Wᵢ EXP(−Αₜ Yᵢ Hₜ(Xᵢ))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51599" y="5726145"/>
            <a:ext cx="261036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FINAL CLASSIFIER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1599" y="6164042"/>
            <a:ext cx="413749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WEIGHTED VOTES DETERMINE CLASS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H(X) = SIGN(Σₜ Αₜ Hₜ(X))</a:t>
            </a:r>
          </a:p>
        </p:txBody>
      </p:sp>
      <p:sp>
        <p:nvSpPr>
          <p:cNvPr id="22" name="Freeform 22"/>
          <p:cNvSpPr/>
          <p:nvPr/>
        </p:nvSpPr>
        <p:spPr>
          <a:xfrm>
            <a:off x="5800761" y="7981207"/>
            <a:ext cx="6686479" cy="1036404"/>
          </a:xfrm>
          <a:custGeom>
            <a:avLst/>
            <a:gdLst/>
            <a:ahLst/>
            <a:cxnLst/>
            <a:rect l="l" t="t" r="r" b="b"/>
            <a:pathLst>
              <a:path w="6686479" h="1036404">
                <a:moveTo>
                  <a:pt x="0" y="0"/>
                </a:moveTo>
                <a:lnTo>
                  <a:pt x="6686478" y="0"/>
                </a:lnTo>
                <a:lnTo>
                  <a:pt x="6686478" y="1036404"/>
                </a:lnTo>
                <a:lnTo>
                  <a:pt x="0" y="1036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029326" y="8105709"/>
            <a:ext cx="6229347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 ≈ 0.5 → Α ≈ 0 • WEAK LEARNERS SHOULD DO BETTER THAN RANDOM GUESSING.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11866" y="847725"/>
            <a:ext cx="9664269" cy="109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584036" y="7736932"/>
            <a:ext cx="791367" cy="791367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584036" y="7700181"/>
            <a:ext cx="791367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151E3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62290" y="1876424"/>
            <a:ext cx="676341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EXPERIMENTAL METHODOLOGY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93074" y="3080040"/>
            <a:ext cx="4901852" cy="759787"/>
          </a:xfrm>
          <a:custGeom>
            <a:avLst/>
            <a:gdLst/>
            <a:ahLst/>
            <a:cxnLst/>
            <a:rect l="l" t="t" r="r" b="b"/>
            <a:pathLst>
              <a:path w="4901852" h="759787">
                <a:moveTo>
                  <a:pt x="0" y="0"/>
                </a:moveTo>
                <a:lnTo>
                  <a:pt x="4901852" y="0"/>
                </a:lnTo>
                <a:lnTo>
                  <a:pt x="4901852" y="759787"/>
                </a:lnTo>
                <a:lnTo>
                  <a:pt x="0" y="7597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164275" y="3242446"/>
            <a:ext cx="3959451" cy="3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NETWORK ADS CSV</a:t>
            </a:r>
          </a:p>
        </p:txBody>
      </p:sp>
      <p:sp>
        <p:nvSpPr>
          <p:cNvPr id="16" name="Freeform 16"/>
          <p:cNvSpPr/>
          <p:nvPr/>
        </p:nvSpPr>
        <p:spPr>
          <a:xfrm>
            <a:off x="5800761" y="4281732"/>
            <a:ext cx="6686479" cy="1036404"/>
          </a:xfrm>
          <a:custGeom>
            <a:avLst/>
            <a:gdLst/>
            <a:ahLst/>
            <a:cxnLst/>
            <a:rect l="l" t="t" r="r" b="b"/>
            <a:pathLst>
              <a:path w="6686479" h="1036404">
                <a:moveTo>
                  <a:pt x="0" y="0"/>
                </a:moveTo>
                <a:lnTo>
                  <a:pt x="6686478" y="0"/>
                </a:lnTo>
                <a:lnTo>
                  <a:pt x="6686478" y="1036404"/>
                </a:lnTo>
                <a:lnTo>
                  <a:pt x="0" y="1036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091821" y="4317334"/>
            <a:ext cx="6104359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INSPECT • CLEAN • SELECT FEATURES • STRATIFIED 80:20 SPLIT</a:t>
            </a:r>
          </a:p>
        </p:txBody>
      </p:sp>
      <p:sp>
        <p:nvSpPr>
          <p:cNvPr id="18" name="Freeform 18"/>
          <p:cNvSpPr/>
          <p:nvPr/>
        </p:nvSpPr>
        <p:spPr>
          <a:xfrm>
            <a:off x="3985729" y="5649335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3" y="0"/>
                </a:lnTo>
                <a:lnTo>
                  <a:pt x="4951753" y="1634079"/>
                </a:lnTo>
                <a:lnTo>
                  <a:pt x="0" y="1634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134235" y="6008143"/>
            <a:ext cx="303792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MODELS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34235" y="6328818"/>
            <a:ext cx="362069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STUMP • DEPTH-3 TREE • FULL TREE</a:t>
            </a:r>
          </a:p>
        </p:txBody>
      </p:sp>
      <p:sp>
        <p:nvSpPr>
          <p:cNvPr id="21" name="Freeform 21"/>
          <p:cNvSpPr/>
          <p:nvPr/>
        </p:nvSpPr>
        <p:spPr>
          <a:xfrm>
            <a:off x="9585012" y="5649335"/>
            <a:ext cx="4951753" cy="1634078"/>
          </a:xfrm>
          <a:custGeom>
            <a:avLst/>
            <a:gdLst/>
            <a:ahLst/>
            <a:cxnLst/>
            <a:rect l="l" t="t" r="r" b="b"/>
            <a:pathLst>
              <a:path w="4951753" h="1634078">
                <a:moveTo>
                  <a:pt x="0" y="0"/>
                </a:moveTo>
                <a:lnTo>
                  <a:pt x="4951752" y="0"/>
                </a:lnTo>
                <a:lnTo>
                  <a:pt x="4951752" y="1634079"/>
                </a:lnTo>
                <a:lnTo>
                  <a:pt x="0" y="1634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794597" y="5893843"/>
            <a:ext cx="148652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ADABOOST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94597" y="6304450"/>
            <a:ext cx="362069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STUMPS / SHALLOW TREES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5800761" y="7614613"/>
            <a:ext cx="6686479" cy="1036404"/>
          </a:xfrm>
          <a:custGeom>
            <a:avLst/>
            <a:gdLst/>
            <a:ahLst/>
            <a:cxnLst/>
            <a:rect l="l" t="t" r="r" b="b"/>
            <a:pathLst>
              <a:path w="6686479" h="1036404">
                <a:moveTo>
                  <a:pt x="0" y="0"/>
                </a:moveTo>
                <a:lnTo>
                  <a:pt x="6686478" y="0"/>
                </a:lnTo>
                <a:lnTo>
                  <a:pt x="6686478" y="1036404"/>
                </a:lnTo>
                <a:lnTo>
                  <a:pt x="0" y="1036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091821" y="7650216"/>
            <a:ext cx="6104359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 EVALUATION + STRATIFIED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5-FOLD CROSS-VALIDATION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6461606" y="5318136"/>
            <a:ext cx="2682394" cy="331199"/>
          </a:xfrm>
          <a:prstGeom prst="line">
            <a:avLst/>
          </a:prstGeom>
          <a:ln w="38100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V="1">
            <a:off x="9144000" y="3839826"/>
            <a:ext cx="0" cy="441905"/>
          </a:xfrm>
          <a:prstGeom prst="line">
            <a:avLst/>
          </a:prstGeom>
          <a:ln w="38100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 flipH="1" flipV="1">
            <a:off x="9144000" y="5318136"/>
            <a:ext cx="2916888" cy="331199"/>
          </a:xfrm>
          <a:prstGeom prst="line">
            <a:avLst/>
          </a:prstGeom>
          <a:ln w="38100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 flipH="1" flipV="1">
            <a:off x="6078195" y="7283414"/>
            <a:ext cx="3065805" cy="331199"/>
          </a:xfrm>
          <a:prstGeom prst="line">
            <a:avLst/>
          </a:prstGeom>
          <a:ln w="38100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 flipV="1">
            <a:off x="9144000" y="7283414"/>
            <a:ext cx="2916888" cy="331199"/>
          </a:xfrm>
          <a:prstGeom prst="line">
            <a:avLst/>
          </a:prstGeom>
          <a:ln w="38100" cap="flat">
            <a:solidFill>
              <a:srgbClr val="F9731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4764822" y="8879617"/>
            <a:ext cx="8758357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• PANDAS • NUMPY • SCIKIT-LEARN • MATPLOTLIB / SEABORN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5876184"/>
            <a:ext cx="3737735" cy="1233452"/>
          </a:xfrm>
          <a:custGeom>
            <a:avLst/>
            <a:gdLst/>
            <a:ahLst/>
            <a:cxnLst/>
            <a:rect l="l" t="t" r="r" b="b"/>
            <a:pathLst>
              <a:path w="3737735" h="1233452">
                <a:moveTo>
                  <a:pt x="0" y="0"/>
                </a:moveTo>
                <a:lnTo>
                  <a:pt x="3737735" y="0"/>
                </a:lnTo>
                <a:lnTo>
                  <a:pt x="3737735" y="1233453"/>
                </a:lnTo>
                <a:lnTo>
                  <a:pt x="0" y="1233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0" y="3177363"/>
            <a:ext cx="3737735" cy="1233452"/>
          </a:xfrm>
          <a:custGeom>
            <a:avLst/>
            <a:gdLst/>
            <a:ahLst/>
            <a:cxnLst/>
            <a:rect l="l" t="t" r="r" b="b"/>
            <a:pathLst>
              <a:path w="3737735" h="1233452">
                <a:moveTo>
                  <a:pt x="0" y="0"/>
                </a:moveTo>
                <a:lnTo>
                  <a:pt x="3737735" y="0"/>
                </a:lnTo>
                <a:lnTo>
                  <a:pt x="3737735" y="1233453"/>
                </a:lnTo>
                <a:lnTo>
                  <a:pt x="0" y="1233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845492" y="1414985"/>
            <a:ext cx="6597015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3439" y="2240483"/>
            <a:ext cx="6121122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HOW DO WE MEASURE PERFORMANCE?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68514" y="6112712"/>
            <a:ext cx="2423895" cy="36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2"/>
              </a:lnSpc>
              <a:spcBef>
                <a:spcPct val="0"/>
              </a:spcBef>
            </a:pPr>
            <a:r>
              <a:rPr lang="en-US" sz="2058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RECALL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68514" y="6561411"/>
            <a:ext cx="1898382" cy="27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  <a:spcBef>
                <a:spcPct val="0"/>
              </a:spcBef>
            </a:pPr>
            <a:r>
              <a:rPr lang="en-US" sz="15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TP / (TP + FN)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4791" y="3396007"/>
            <a:ext cx="279211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4791" y="3813427"/>
            <a:ext cx="196533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(TP + TN) / ALL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068217" y="3811642"/>
            <a:ext cx="3631352" cy="1198346"/>
          </a:xfrm>
          <a:custGeom>
            <a:avLst/>
            <a:gdLst/>
            <a:ahLst/>
            <a:cxnLst/>
            <a:rect l="l" t="t" r="r" b="b"/>
            <a:pathLst>
              <a:path w="3631352" h="1198346">
                <a:moveTo>
                  <a:pt x="0" y="0"/>
                </a:moveTo>
                <a:lnTo>
                  <a:pt x="3631352" y="0"/>
                </a:lnTo>
                <a:lnTo>
                  <a:pt x="3631352" y="1198347"/>
                </a:lnTo>
                <a:lnTo>
                  <a:pt x="0" y="1198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144000" y="4506066"/>
            <a:ext cx="3737735" cy="1233452"/>
          </a:xfrm>
          <a:custGeom>
            <a:avLst/>
            <a:gdLst/>
            <a:ahLst/>
            <a:cxnLst/>
            <a:rect l="l" t="t" r="r" b="b"/>
            <a:pathLst>
              <a:path w="3737735" h="1233452">
                <a:moveTo>
                  <a:pt x="0" y="0"/>
                </a:moveTo>
                <a:lnTo>
                  <a:pt x="3737735" y="0"/>
                </a:lnTo>
                <a:lnTo>
                  <a:pt x="3737735" y="1233452"/>
                </a:lnTo>
                <a:lnTo>
                  <a:pt x="0" y="1233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189187" y="4030287"/>
            <a:ext cx="24960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F1-SCORE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89187" y="4447707"/>
            <a:ext cx="1525105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2PR / (P + 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94791" y="4704233"/>
            <a:ext cx="2610363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PRECISION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4791" y="5142130"/>
            <a:ext cx="191122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TP / (TP + FP)</a:t>
            </a:r>
          </a:p>
        </p:txBody>
      </p:sp>
      <p:sp>
        <p:nvSpPr>
          <p:cNvPr id="22" name="Freeform 22"/>
          <p:cNvSpPr/>
          <p:nvPr/>
        </p:nvSpPr>
        <p:spPr>
          <a:xfrm>
            <a:off x="5800761" y="7981207"/>
            <a:ext cx="6686479" cy="1036404"/>
          </a:xfrm>
          <a:custGeom>
            <a:avLst/>
            <a:gdLst/>
            <a:ahLst/>
            <a:cxnLst/>
            <a:rect l="l" t="t" r="r" b="b"/>
            <a:pathLst>
              <a:path w="6686479" h="1036404">
                <a:moveTo>
                  <a:pt x="0" y="0"/>
                </a:moveTo>
                <a:lnTo>
                  <a:pt x="6686478" y="0"/>
                </a:lnTo>
                <a:lnTo>
                  <a:pt x="6686478" y="1036404"/>
                </a:lnTo>
                <a:lnTo>
                  <a:pt x="0" y="1036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029326" y="8105709"/>
            <a:ext cx="6229347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 ≈ 0.5 → Α ≈ 0 • WEAK LEARNERS SHOULD DO BETTER THAN RANDOM GUESSING.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068217" y="5189755"/>
            <a:ext cx="3631352" cy="1198346"/>
          </a:xfrm>
          <a:custGeom>
            <a:avLst/>
            <a:gdLst/>
            <a:ahLst/>
            <a:cxnLst/>
            <a:rect l="l" t="t" r="r" b="b"/>
            <a:pathLst>
              <a:path w="3631352" h="1198346">
                <a:moveTo>
                  <a:pt x="0" y="0"/>
                </a:moveTo>
                <a:lnTo>
                  <a:pt x="3631352" y="0"/>
                </a:lnTo>
                <a:lnTo>
                  <a:pt x="3631352" y="1198346"/>
                </a:lnTo>
                <a:lnTo>
                  <a:pt x="0" y="1198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189187" y="5408399"/>
            <a:ext cx="24960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ROC-AUC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89187" y="5825819"/>
            <a:ext cx="315112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RANKING ACROSS THRESHOLDS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00791" y="3418637"/>
            <a:ext cx="2792112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CONFUSION MATRIX</a:t>
            </a:r>
          </a:p>
        </p:txBody>
      </p:sp>
      <p:sp>
        <p:nvSpPr>
          <p:cNvPr id="28" name="Freeform 28"/>
          <p:cNvSpPr/>
          <p:nvPr/>
        </p:nvSpPr>
        <p:spPr>
          <a:xfrm>
            <a:off x="4037267" y="4285613"/>
            <a:ext cx="1448467" cy="1245681"/>
          </a:xfrm>
          <a:custGeom>
            <a:avLst/>
            <a:gdLst/>
            <a:ahLst/>
            <a:cxnLst/>
            <a:rect l="l" t="t" r="r" b="b"/>
            <a:pathLst>
              <a:path w="1448467" h="1245681">
                <a:moveTo>
                  <a:pt x="0" y="0"/>
                </a:moveTo>
                <a:lnTo>
                  <a:pt x="1448466" y="0"/>
                </a:lnTo>
                <a:lnTo>
                  <a:pt x="1448466" y="1245681"/>
                </a:lnTo>
                <a:lnTo>
                  <a:pt x="0" y="1245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5676233" y="4285613"/>
            <a:ext cx="1448467" cy="1245681"/>
          </a:xfrm>
          <a:custGeom>
            <a:avLst/>
            <a:gdLst/>
            <a:ahLst/>
            <a:cxnLst/>
            <a:rect l="l" t="t" r="r" b="b"/>
            <a:pathLst>
              <a:path w="1448467" h="1245681">
                <a:moveTo>
                  <a:pt x="0" y="0"/>
                </a:moveTo>
                <a:lnTo>
                  <a:pt x="1448467" y="0"/>
                </a:lnTo>
                <a:lnTo>
                  <a:pt x="1448467" y="1245681"/>
                </a:lnTo>
                <a:lnTo>
                  <a:pt x="0" y="1245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037267" y="5648516"/>
            <a:ext cx="1448467" cy="1245681"/>
          </a:xfrm>
          <a:custGeom>
            <a:avLst/>
            <a:gdLst/>
            <a:ahLst/>
            <a:cxnLst/>
            <a:rect l="l" t="t" r="r" b="b"/>
            <a:pathLst>
              <a:path w="1448467" h="1245681">
                <a:moveTo>
                  <a:pt x="0" y="0"/>
                </a:moveTo>
                <a:lnTo>
                  <a:pt x="1448466" y="0"/>
                </a:lnTo>
                <a:lnTo>
                  <a:pt x="1448466" y="1245681"/>
                </a:lnTo>
                <a:lnTo>
                  <a:pt x="0" y="1245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676233" y="5648516"/>
            <a:ext cx="1448467" cy="1245681"/>
          </a:xfrm>
          <a:custGeom>
            <a:avLst/>
            <a:gdLst/>
            <a:ahLst/>
            <a:cxnLst/>
            <a:rect l="l" t="t" r="r" b="b"/>
            <a:pathLst>
              <a:path w="1448467" h="1245681">
                <a:moveTo>
                  <a:pt x="0" y="0"/>
                </a:moveTo>
                <a:lnTo>
                  <a:pt x="1448467" y="0"/>
                </a:lnTo>
                <a:lnTo>
                  <a:pt x="1448467" y="1245681"/>
                </a:lnTo>
                <a:lnTo>
                  <a:pt x="0" y="1245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4215872" y="4539378"/>
            <a:ext cx="1091256" cy="72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32020"/>
                </a:solidFill>
                <a:latin typeface="Poppins Bold"/>
                <a:ea typeface="Poppins Bold"/>
                <a:cs typeface="Poppins Bold"/>
                <a:sym typeface="Poppins Bold"/>
              </a:rPr>
              <a:t>TN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15872" y="5909497"/>
            <a:ext cx="1091256" cy="72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32020"/>
                </a:solidFill>
                <a:latin typeface="Poppins Bold"/>
                <a:ea typeface="Poppins Bold"/>
                <a:cs typeface="Poppins Bold"/>
                <a:sym typeface="Poppins Bold"/>
              </a:rPr>
              <a:t>FN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54839" y="4539378"/>
            <a:ext cx="1091256" cy="72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32020"/>
                </a:solidFill>
                <a:latin typeface="Poppins Bold"/>
                <a:ea typeface="Poppins Bold"/>
                <a:cs typeface="Poppins Bold"/>
                <a:sym typeface="Poppins Bold"/>
              </a:rPr>
              <a:t>FP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54839" y="5901551"/>
            <a:ext cx="1091256" cy="72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32020"/>
                </a:solidFill>
                <a:latin typeface="Poppins Bold"/>
                <a:ea typeface="Poppins Bold"/>
                <a:cs typeface="Poppins Bold"/>
                <a:sym typeface="Poppins Bold"/>
              </a:rPr>
              <a:t>TP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00791" y="4669552"/>
            <a:ext cx="84597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ACTUAL 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00791" y="6039671"/>
            <a:ext cx="84597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ACTUAL 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112578" y="3910331"/>
            <a:ext cx="129784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PREDICTED 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751545" y="3910331"/>
            <a:ext cx="129784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PREDICTED 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00791" y="7142427"/>
            <a:ext cx="449769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FP: PREDICTED BUYER WHO DID NOT BUY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FN: MISSED A CUSTOMER WHO BOUGHT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162806" y="2605056"/>
          <a:ext cx="11962388" cy="6791326"/>
        </p:xfrm>
        <a:graphic>
          <a:graphicData uri="http://schemas.openxmlformats.org/drawingml/2006/table">
            <a:tbl>
              <a:tblPr/>
              <a:tblGrid>
                <a:gridCol w="2923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8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6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07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7397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TEST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ROC-AUC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55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Decision Stump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86.25%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87.50%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79.25%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0.8327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72.41%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55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Depth-3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88.75%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81.25%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85.25%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0.9216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89.66%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55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Full Tree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86.25%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76.47%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82.54%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0.8698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89.66%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559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AdaBoost (stumps)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86.25%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82.14%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80.7%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0.9327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79.31%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9559"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AdaBoost (depth-2)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87.5%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82.76%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82.76%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0.9490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82.76%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9559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83.87%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86.67%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0.9266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89.66%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5704780" y="847725"/>
            <a:ext cx="6878439" cy="109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2290" y="1876424"/>
            <a:ext cx="676341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TREES VS. ADABOOST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637623" y="1749974"/>
            <a:ext cx="9012753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&amp; KEY TAKEAWAY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06421" y="2575473"/>
            <a:ext cx="7475158" cy="45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E1C1AC"/>
                </a:solidFill>
                <a:latin typeface="Poppins Bold"/>
                <a:ea typeface="Poppins Bold"/>
                <a:cs typeface="Poppins Bold"/>
                <a:sym typeface="Poppins Bold"/>
              </a:rPr>
              <a:t>DOES ADABOOST IMPROVE PERFORMANCE?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79071" y="3979474"/>
            <a:ext cx="7054700" cy="2328051"/>
          </a:xfrm>
          <a:custGeom>
            <a:avLst/>
            <a:gdLst/>
            <a:ahLst/>
            <a:cxnLst/>
            <a:rect l="l" t="t" r="r" b="b"/>
            <a:pathLst>
              <a:path w="7054700" h="2328051">
                <a:moveTo>
                  <a:pt x="0" y="0"/>
                </a:moveTo>
                <a:lnTo>
                  <a:pt x="7054700" y="0"/>
                </a:lnTo>
                <a:lnTo>
                  <a:pt x="7054700" y="2328052"/>
                </a:lnTo>
                <a:lnTo>
                  <a:pt x="0" y="23280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16449" y="4117257"/>
            <a:ext cx="5797293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BEST SINGLE TREE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SHALLOW DECISION TREE (DEPTH 3)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BEST INDIVIDUAL TREE ON THE HOLD-OUT TEST SET, WITH A GOOD BALANCE BETWEEN PRECISION AND RECALL.</a:t>
            </a:r>
          </a:p>
        </p:txBody>
      </p:sp>
      <p:sp>
        <p:nvSpPr>
          <p:cNvPr id="12" name="Freeform 12"/>
          <p:cNvSpPr/>
          <p:nvPr/>
        </p:nvSpPr>
        <p:spPr>
          <a:xfrm>
            <a:off x="9585012" y="3933748"/>
            <a:ext cx="7054700" cy="2328051"/>
          </a:xfrm>
          <a:custGeom>
            <a:avLst/>
            <a:gdLst/>
            <a:ahLst/>
            <a:cxnLst/>
            <a:rect l="l" t="t" r="r" b="b"/>
            <a:pathLst>
              <a:path w="7054700" h="2328051">
                <a:moveTo>
                  <a:pt x="0" y="0"/>
                </a:moveTo>
                <a:lnTo>
                  <a:pt x="7054700" y="0"/>
                </a:lnTo>
                <a:lnTo>
                  <a:pt x="7054700" y="2328051"/>
                </a:lnTo>
                <a:lnTo>
                  <a:pt x="0" y="23280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822390" y="4071531"/>
            <a:ext cx="6243556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ADABOOST CHANGE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ADABOOST (DEPTH-2 TREES)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COMPARED WITH THE BEST SINGLE TREE, TEST ACCURACY DECREASED BY 1.25% AND F1-SCORE DECREASED BY 2.49%.</a:t>
            </a:r>
          </a:p>
        </p:txBody>
      </p:sp>
      <p:sp>
        <p:nvSpPr>
          <p:cNvPr id="14" name="Freeform 14"/>
          <p:cNvSpPr/>
          <p:nvPr/>
        </p:nvSpPr>
        <p:spPr>
          <a:xfrm>
            <a:off x="4853744" y="6657060"/>
            <a:ext cx="8580512" cy="2831569"/>
          </a:xfrm>
          <a:custGeom>
            <a:avLst/>
            <a:gdLst/>
            <a:ahLst/>
            <a:cxnLst/>
            <a:rect l="l" t="t" r="r" b="b"/>
            <a:pathLst>
              <a:path w="8580512" h="2831569">
                <a:moveTo>
                  <a:pt x="0" y="0"/>
                </a:moveTo>
                <a:lnTo>
                  <a:pt x="8580512" y="0"/>
                </a:lnTo>
                <a:lnTo>
                  <a:pt x="8580512" y="2831569"/>
                </a:lnTo>
                <a:lnTo>
                  <a:pt x="0" y="28315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091123" y="6794843"/>
            <a:ext cx="7688596" cy="213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REPEATED STRATIFIED 5-FOLD CV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ADABOOST (DEPTH-2 TREES):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ACCURACY: 90.5% ± 3.8%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ROC-AUC: 0.954 ± 0.026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ACHIEVED THE HIGHEST MEAN CROSS-VALIDATION ACCURACY AND ROC-AUC AMONG THE MAIN MODELS TESTED.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65688" y="7543875"/>
            <a:ext cx="3094369" cy="3009977"/>
          </a:xfrm>
          <a:custGeom>
            <a:avLst/>
            <a:gdLst/>
            <a:ahLst/>
            <a:cxnLst/>
            <a:rect l="l" t="t" r="r" b="b"/>
            <a:pathLst>
              <a:path w="3094369" h="3009977">
                <a:moveTo>
                  <a:pt x="0" y="0"/>
                </a:moveTo>
                <a:lnTo>
                  <a:pt x="3094368" y="0"/>
                </a:lnTo>
                <a:lnTo>
                  <a:pt x="3094368" y="3009976"/>
                </a:lnTo>
                <a:lnTo>
                  <a:pt x="0" y="30099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32588" y="197485"/>
            <a:ext cx="2217015" cy="1695365"/>
          </a:xfrm>
          <a:custGeom>
            <a:avLst/>
            <a:gdLst/>
            <a:ahLst/>
            <a:cxnLst/>
            <a:rect l="l" t="t" r="r" b="b"/>
            <a:pathLst>
              <a:path w="2217015" h="1695365">
                <a:moveTo>
                  <a:pt x="2217016" y="0"/>
                </a:moveTo>
                <a:lnTo>
                  <a:pt x="0" y="0"/>
                </a:lnTo>
                <a:lnTo>
                  <a:pt x="0" y="1695364"/>
                </a:lnTo>
                <a:lnTo>
                  <a:pt x="2217016" y="1695364"/>
                </a:lnTo>
                <a:lnTo>
                  <a:pt x="22170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98548" y="3272553"/>
            <a:ext cx="6374464" cy="2103573"/>
          </a:xfrm>
          <a:custGeom>
            <a:avLst/>
            <a:gdLst/>
            <a:ahLst/>
            <a:cxnLst/>
            <a:rect l="l" t="t" r="r" b="b"/>
            <a:pathLst>
              <a:path w="6374464" h="2103573">
                <a:moveTo>
                  <a:pt x="0" y="0"/>
                </a:moveTo>
                <a:lnTo>
                  <a:pt x="6374464" y="0"/>
                </a:lnTo>
                <a:lnTo>
                  <a:pt x="6374464" y="2103573"/>
                </a:lnTo>
                <a:lnTo>
                  <a:pt x="0" y="2103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614988" y="3272553"/>
            <a:ext cx="6374464" cy="2103573"/>
          </a:xfrm>
          <a:custGeom>
            <a:avLst/>
            <a:gdLst/>
            <a:ahLst/>
            <a:cxnLst/>
            <a:rect l="l" t="t" r="r" b="b"/>
            <a:pathLst>
              <a:path w="6374464" h="2103573">
                <a:moveTo>
                  <a:pt x="0" y="0"/>
                </a:moveTo>
                <a:lnTo>
                  <a:pt x="6374464" y="0"/>
                </a:lnTo>
                <a:lnTo>
                  <a:pt x="6374464" y="2103573"/>
                </a:lnTo>
                <a:lnTo>
                  <a:pt x="0" y="2103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72020" y="1475504"/>
            <a:ext cx="10143959" cy="90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KEY TAKEAWAY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87438" y="3417335"/>
            <a:ext cx="2354906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7438" y="3744995"/>
            <a:ext cx="4445726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SMALL DATASET (400 RECORDS)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ONLY TWO INPUT FEATURES USED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RESULTS DEPEND ON THE TRAIN/TEST SPLIT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LIMITED REAL-WORLD VALIDATION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5779" y="3454062"/>
            <a:ext cx="279211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5779" y="3781722"/>
            <a:ext cx="5242704" cy="111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INCLUDE MORE CUSTOMER FEATURES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TUNE HYPERPARAMETERS SYSTEMATICALLY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USE CROSS-VALIDATION FOR MODEL SELECTION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EXPLORE EXPLAINABLE ML TECHNIQUES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5943953" y="5499951"/>
            <a:ext cx="6400093" cy="2112031"/>
          </a:xfrm>
          <a:custGeom>
            <a:avLst/>
            <a:gdLst/>
            <a:ahLst/>
            <a:cxnLst/>
            <a:rect l="l" t="t" r="r" b="b"/>
            <a:pathLst>
              <a:path w="6400093" h="2112031">
                <a:moveTo>
                  <a:pt x="0" y="0"/>
                </a:moveTo>
                <a:lnTo>
                  <a:pt x="6400094" y="0"/>
                </a:lnTo>
                <a:lnTo>
                  <a:pt x="6400094" y="2112031"/>
                </a:lnTo>
                <a:lnTo>
                  <a:pt x="0" y="2112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220607" y="5686258"/>
            <a:ext cx="2496071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20607" y="6103678"/>
            <a:ext cx="560439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3" lvl="1" indent="-161927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HTTPS://GITHUB.COM/SHIVANG98/SOCIAL-NETWORK-ADS-BOOST/BLOB/MASTER/SOCIAL_NETWORK_ADS.CSV</a:t>
            </a:r>
          </a:p>
          <a:p>
            <a:pPr marL="323853" lvl="1" indent="-161927" algn="l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SCIKIT-LEARN USER GUIDE — ENSEMBLE METHODS AND ADABOOSTCLASSIFIER API.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02832" y="7992982"/>
            <a:ext cx="9843063" cy="1525675"/>
          </a:xfrm>
          <a:custGeom>
            <a:avLst/>
            <a:gdLst/>
            <a:ahLst/>
            <a:cxnLst/>
            <a:rect l="l" t="t" r="r" b="b"/>
            <a:pathLst>
              <a:path w="9843063" h="1525675">
                <a:moveTo>
                  <a:pt x="0" y="0"/>
                </a:moveTo>
                <a:lnTo>
                  <a:pt x="9843063" y="0"/>
                </a:lnTo>
                <a:lnTo>
                  <a:pt x="9843063" y="1525675"/>
                </a:lnTo>
                <a:lnTo>
                  <a:pt x="0" y="1525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4142105" y="8236070"/>
            <a:ext cx="1000379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ADABOOST WITH DEPTH-2 TREES ACHIEVED THE STRONGEST CROSS-VALIDATION PERFORMANCE, BUT THE SHALLOW DECISION TREE PERFORMED BETTER ON THE HOLD-OUT TEST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59929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2" y="0"/>
                </a:lnTo>
                <a:lnTo>
                  <a:pt x="10818582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85012" y="-264730"/>
            <a:ext cx="10818582" cy="10818582"/>
          </a:xfrm>
          <a:custGeom>
            <a:avLst/>
            <a:gdLst/>
            <a:ahLst/>
            <a:cxnLst/>
            <a:rect l="l" t="t" r="r" b="b"/>
            <a:pathLst>
              <a:path w="10818582" h="10818582">
                <a:moveTo>
                  <a:pt x="0" y="0"/>
                </a:moveTo>
                <a:lnTo>
                  <a:pt x="10818581" y="0"/>
                </a:lnTo>
                <a:lnTo>
                  <a:pt x="10818581" y="10818581"/>
                </a:lnTo>
                <a:lnTo>
                  <a:pt x="0" y="10818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19284" y="6094445"/>
            <a:ext cx="7695967" cy="7153073"/>
          </a:xfrm>
          <a:custGeom>
            <a:avLst/>
            <a:gdLst/>
            <a:ahLst/>
            <a:cxnLst/>
            <a:rect l="l" t="t" r="r" b="b"/>
            <a:pathLst>
              <a:path w="7695967" h="7153073">
                <a:moveTo>
                  <a:pt x="0" y="0"/>
                </a:moveTo>
                <a:lnTo>
                  <a:pt x="7695968" y="0"/>
                </a:lnTo>
                <a:lnTo>
                  <a:pt x="7695968" y="7153073"/>
                </a:lnTo>
                <a:lnTo>
                  <a:pt x="0" y="7153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99097" y="6915767"/>
            <a:ext cx="3465754" cy="3371233"/>
          </a:xfrm>
          <a:custGeom>
            <a:avLst/>
            <a:gdLst/>
            <a:ahLst/>
            <a:cxnLst/>
            <a:rect l="l" t="t" r="r" b="b"/>
            <a:pathLst>
              <a:path w="3465754" h="3371233">
                <a:moveTo>
                  <a:pt x="0" y="0"/>
                </a:moveTo>
                <a:lnTo>
                  <a:pt x="3465754" y="0"/>
                </a:lnTo>
                <a:lnTo>
                  <a:pt x="3465754" y="3371233"/>
                </a:lnTo>
                <a:lnTo>
                  <a:pt x="0" y="3371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657863">
            <a:off x="14088612" y="-2951106"/>
            <a:ext cx="6437565" cy="5983442"/>
          </a:xfrm>
          <a:custGeom>
            <a:avLst/>
            <a:gdLst/>
            <a:ahLst/>
            <a:cxnLst/>
            <a:rect l="l" t="t" r="r" b="b"/>
            <a:pathLst>
              <a:path w="6437565" h="5983442">
                <a:moveTo>
                  <a:pt x="0" y="0"/>
                </a:moveTo>
                <a:lnTo>
                  <a:pt x="6437565" y="0"/>
                </a:lnTo>
                <a:lnTo>
                  <a:pt x="6437565" y="5983442"/>
                </a:lnTo>
                <a:lnTo>
                  <a:pt x="0" y="5983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46571" y="40615"/>
            <a:ext cx="2721647" cy="2081260"/>
          </a:xfrm>
          <a:custGeom>
            <a:avLst/>
            <a:gdLst/>
            <a:ahLst/>
            <a:cxnLst/>
            <a:rect l="l" t="t" r="r" b="b"/>
            <a:pathLst>
              <a:path w="2721647" h="2081260">
                <a:moveTo>
                  <a:pt x="0" y="0"/>
                </a:moveTo>
                <a:lnTo>
                  <a:pt x="2721647" y="0"/>
                </a:lnTo>
                <a:lnTo>
                  <a:pt x="2721647" y="2081260"/>
                </a:lnTo>
                <a:lnTo>
                  <a:pt x="0" y="2081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114238" y="2749303"/>
            <a:ext cx="10059525" cy="430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7"/>
              </a:lnSpc>
            </a:pPr>
            <a:r>
              <a:rPr lang="en-US" sz="1398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>
            <a:off x="-566879" y="0"/>
            <a:ext cx="2896012" cy="2993998"/>
          </a:xfrm>
          <a:custGeom>
            <a:avLst/>
            <a:gdLst/>
            <a:ahLst/>
            <a:cxnLst/>
            <a:rect l="l" t="t" r="r" b="b"/>
            <a:pathLst>
              <a:path w="2896012" h="2993998">
                <a:moveTo>
                  <a:pt x="0" y="0"/>
                </a:moveTo>
                <a:lnTo>
                  <a:pt x="2896012" y="0"/>
                </a:lnTo>
                <a:lnTo>
                  <a:pt x="2896012" y="2993998"/>
                </a:lnTo>
                <a:lnTo>
                  <a:pt x="0" y="2993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875600" y="7177068"/>
            <a:ext cx="2767401" cy="2767401"/>
          </a:xfrm>
          <a:custGeom>
            <a:avLst/>
            <a:gdLst/>
            <a:ahLst/>
            <a:cxnLst/>
            <a:rect l="l" t="t" r="r" b="b"/>
            <a:pathLst>
              <a:path w="2767401" h="2767401">
                <a:moveTo>
                  <a:pt x="0" y="0"/>
                </a:moveTo>
                <a:lnTo>
                  <a:pt x="2767400" y="0"/>
                </a:lnTo>
                <a:lnTo>
                  <a:pt x="2767400" y="2767401"/>
                </a:lnTo>
                <a:lnTo>
                  <a:pt x="0" y="2767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840</Words>
  <Application>Microsoft Office PowerPoint</Application>
  <PresentationFormat>Custom</PresentationFormat>
  <Paragraphs>216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Poppins Bold</vt:lpstr>
      <vt:lpstr>Calibri</vt:lpstr>
      <vt:lpstr>Inclusive Sans</vt:lpstr>
      <vt:lpstr>Montserrat Semi-Bold</vt:lpstr>
      <vt:lpstr>Montserrat</vt:lpstr>
      <vt:lpstr>Inclusive Sans Bold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 ML ISE</dc:title>
  <cp:lastModifiedBy>Pratham Mendon</cp:lastModifiedBy>
  <cp:revision>2</cp:revision>
  <dcterms:created xsi:type="dcterms:W3CDTF">2006-08-16T00:00:00Z</dcterms:created>
  <dcterms:modified xsi:type="dcterms:W3CDTF">2026-10-12T12:59:14Z</dcterms:modified>
  <dc:identifier>DAHXuttm2sE</dc:identifier>
</cp:coreProperties>
</file>